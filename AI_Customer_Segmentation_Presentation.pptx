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23550-BA7C-4331-8A33-698E049C6AD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5D1BC-7C3A-48DD-BD4A-A7D1F1643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Editable title slide. Details supplied by the student; no guide or approval is invented. Synthetic demonstration data.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99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distinction between learned groups and designed recommendation rules. Source: project README and src modules.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328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is the original project output, preserved under legacy. The final application retains classic mode and legacy files.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Worked example is illustrative, not a claim about a particular dataset row. No-purchase customers use frequency/value 0 and recency sentinel 366.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025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https://scikit-learn.org/stable/modules/clustering.html and https://scikit-learn.org/stable/modules/mixture.html. The extension rules are project implementation choices.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54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Measured source: outputs/model_comparison.csv. Higher silhouette/CH and lower DBI are preferred. Rank averages include a coverage penalty and require 80% coverage.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90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Actual dashboard screenshot. Demo account admin/admin123 is for local college use. The original legacy app is a separate historical demo.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966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Measured project outputs. Plot is an income/spending projection of six-feature clusters. Cluster IDs are arbitrary.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648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claim accuracy, causal explanations or proven campaign success. Invite questions about assumptions, DBSCAN coverage and prediction extensions.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5D1BC-7C3A-48DD-BD4A-A7D1F1643D4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79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C3C09-0986-6225-5E85-9DA6EAF4D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F848D-48BA-8EAE-649E-1F3429F0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857EE-C3A0-E7BD-D99C-C92CDD65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F209C-3C03-633A-E5A5-7DB49023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33BCC-51EA-82F6-EBAC-98B6492B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2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3D5C-BD78-8C32-9FBF-069A9D44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0E4E-083F-C382-9F51-BA0099F07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C0AD5-895B-CC34-DB18-5BCFA6E8D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A3D67-A4D4-67E5-6A40-A47D3E32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17E6-2061-A7C3-6C1A-30F58E02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6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00CC-1636-80D9-F6CD-6E69B233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EE0F1-B17F-E04E-6B1C-846B237D3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86D39-9C72-AD49-2F6D-3A5ED59F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49EDF-0F8E-252C-B285-8631C3C5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CB2B2-21A3-E30A-08EA-CBA68E00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077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8CF7-0C2C-EDB7-EBBB-C6533102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62C70-BB66-9AE6-5847-D3B5C1DB5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23099-2D24-1591-FD12-03C3498D8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23AD3-9610-D65C-7614-D42CCE17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02576-E4C9-48E5-5D41-42337B98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BE6FB-FEC0-719A-98E8-AA007D6E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2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ADEE-AB19-3A72-F1AC-04B5C3CB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EB501-EB59-6254-7E8A-7F9F5BC4D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E0529-77F2-600E-EEB2-D12F2205F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2769D0-04A0-A7B9-1188-9A7E45B23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23440-DDDA-F179-F109-D4E3C3041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0A587-C246-8E18-3672-6648780B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DCCA8-EF53-16C7-05DA-CF005450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14AEC-7916-C2CC-5D3B-512354C3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1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9B87-7EBF-BAEE-451E-E938B8ED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EE48F-E054-D1FD-7315-22013C78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B9FB-728F-4DD7-777D-FF4C8EBA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A5D67-9D11-BF1B-D180-DD76DDEF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49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4E4CA-442F-F5A3-9D4D-FB7918A8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199E6-6EEC-E2DD-949F-64743000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74EA-8133-FA12-4855-7160EDCF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45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D244-0052-67D9-2225-F19E963A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A743-A7A0-324B-A499-38FA0D1C8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08164-E874-6479-15AB-2A4B7DE20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4BACD-AE9A-67F9-704F-C48A3BCB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389B-5076-2D45-6EE3-7648CD22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B4DC0-824B-4AAE-9F49-9119BBE9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5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EE7C-6DD9-7CA2-2E81-8BC72171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C3B6D-B2E8-2EE5-D645-55C9F383B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1659A-FF4D-1258-5081-85BFCFC5B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9371E-FF98-CC0F-1C57-7EE88204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44588-E4B2-96BB-6DF1-4A7967D5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6E9BD-63C7-0FDB-23A7-5B4288A9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90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E5DC3-D869-1C23-23B2-A755FDD4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8488F-EB0F-DBDB-D5EA-1F6042960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A36CC-1F12-51C2-6289-02718D44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D3ACA-57BD-44F8-FA14-C1BDB17D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73017-926C-15E1-7090-DDF730F6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18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2D09D-00B2-245C-17F1-E9543974D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9A1D9-4CFD-0015-5FE6-0C00FDFD4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88B4D-BAAE-9265-8A6C-4C303EBD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DFF1F-FB6F-BD7E-F0A1-A48217E4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4F8DD-7149-2237-17BB-2F6EEC57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94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9F883-16B6-18E8-67E3-AEB0D5E0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0D40-5888-DE45-577B-525657102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058F6-6610-406A-DC76-ACC478605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E47F4-D250-4E74-8617-24419405677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6D617-5F86-21A9-FFB0-FAE449919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0838-F2C1-D4C2-60BC-0C60B9231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4A5F5-BE00-4B35-8C14-8323AAC92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17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3C8AF-72B5-966B-6CAC-B698F84A8758}"/>
              </a:ext>
            </a:extLst>
          </p:cNvPr>
          <p:cNvSpPr txBox="1"/>
          <p:nvPr/>
        </p:nvSpPr>
        <p:spPr>
          <a:xfrm>
            <a:off x="609600" y="380999"/>
            <a:ext cx="109728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4000" b="1">
                <a:solidFill>
                  <a:srgbClr val="FFFFFF"/>
                </a:solidFill>
                <a:latin typeface="Arial" panose="020B0604020202020204" pitchFamily="34" charset="0"/>
              </a:rPr>
              <a:t>AI-Based Customer Segmentation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BB12C-163A-5C6B-54DA-550A4E7ACE33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1AC99-C82F-4842-5806-6B12AC0DF2B6}"/>
              </a:ext>
            </a:extLst>
          </p:cNvPr>
          <p:cNvSpPr txBox="1"/>
          <p:nvPr/>
        </p:nvSpPr>
        <p:spPr>
          <a:xfrm>
            <a:off x="609600" y="1879600"/>
            <a:ext cx="10972800" cy="10823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</a:rPr>
              <a:t>Personalized Marketing Recommendation System</a:t>
            </a:r>
          </a:p>
          <a:p>
            <a:pPr>
              <a:spcAft>
                <a:spcPts val="1000"/>
              </a:spcAft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</a:rPr>
              <a:t>using Machine Learning</a:t>
            </a:r>
            <a:endParaRPr lang="en-IN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E7713-8DE1-B093-2FF5-0278F4AF2CED}"/>
              </a:ext>
            </a:extLst>
          </p:cNvPr>
          <p:cNvSpPr txBox="1"/>
          <p:nvPr/>
        </p:nvSpPr>
        <p:spPr>
          <a:xfrm>
            <a:off x="609600" y="3924300"/>
            <a:ext cx="10972800" cy="15542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900">
                <a:solidFill>
                  <a:srgbClr val="C6E7E1"/>
                </a:solidFill>
                <a:latin typeface="Arial" panose="020B0604020202020204" pitchFamily="34" charset="0"/>
              </a:rPr>
              <a:t>Nigilan  |  145731105</a:t>
            </a:r>
          </a:p>
          <a:p>
            <a:pPr>
              <a:spcAft>
                <a:spcPts val="1000"/>
              </a:spcAft>
            </a:pPr>
            <a:r>
              <a:rPr lang="en-US" sz="1900">
                <a:solidFill>
                  <a:srgbClr val="C6E7E1"/>
                </a:solidFill>
                <a:latin typeface="Arial" panose="020B0604020202020204" pitchFamily="34" charset="0"/>
              </a:rPr>
              <a:t>BE CSE AI  |  Sathyabama university</a:t>
            </a:r>
          </a:p>
          <a:p>
            <a:pPr>
              <a:spcAft>
                <a:spcPts val="1000"/>
              </a:spcAft>
            </a:pPr>
            <a:r>
              <a:rPr lang="en-US" sz="1900">
                <a:solidFill>
                  <a:srgbClr val="C6E7E1"/>
                </a:solidFill>
                <a:latin typeface="Arial" panose="020B0604020202020204" pitchFamily="34" charset="0"/>
              </a:rPr>
              <a:t>Academic year: 2026-2027</a:t>
            </a:r>
          </a:p>
          <a:p>
            <a:pPr>
              <a:spcAft>
                <a:spcPts val="1000"/>
              </a:spcAft>
            </a:pPr>
            <a:r>
              <a:rPr lang="en-US" sz="1900">
                <a:solidFill>
                  <a:srgbClr val="C6E7E1"/>
                </a:solidFill>
                <a:latin typeface="Arial" panose="020B0604020202020204" pitchFamily="34" charset="0"/>
              </a:rPr>
              <a:t>Guide: [Guide name - not assigned]</a:t>
            </a:r>
            <a:endParaRPr lang="en-IN" sz="1900">
              <a:solidFill>
                <a:srgbClr val="C6E7E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80DF1-CD31-E9E4-9772-0C8EE7B67265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8D678-4BB3-EF98-7CD1-D754D71AA904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1E5D3-42A4-D8CC-1034-D7255BFCFEDF}"/>
              </a:ext>
            </a:extLst>
          </p:cNvPr>
          <p:cNvSpPr txBox="1"/>
          <p:nvPr/>
        </p:nvSpPr>
        <p:spPr>
          <a:xfrm>
            <a:off x="660400" y="1651000"/>
            <a:ext cx="10795000" cy="324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Customer behavior varies beyond income and spending score.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Purchase recency, frequency and monetary value add useful context.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This system combines unsupervised learning with transparent marketing rules.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The demonstration uses synthetic records and makes no claim of real campaign lift.</a:t>
            </a:r>
            <a:endParaRPr lang="en-IN" sz="23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88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E998D-F621-8B36-57D6-1F614E899D89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0380A-9B1E-A734-054B-DA412BA427E9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9BD7F-E9FB-6673-F4DD-AFD69A4AA52D}"/>
              </a:ext>
            </a:extLst>
          </p:cNvPr>
          <p:cNvSpPr txBox="1"/>
          <p:nvPr/>
        </p:nvSpPr>
        <p:spPr>
          <a:xfrm>
            <a:off x="660400" y="1651000"/>
            <a:ext cx="10795000" cy="29905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How can an analyst turn customer and purchase records into interpretable customer groups?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Compare alternative clustering assumptions using a consistent feature space.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Explain new-customer assignments and propose actions without claiming ground-truth customer labels.</a:t>
            </a:r>
            <a:endParaRPr lang="en-IN" sz="23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12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CE0996-E662-A672-1F06-F3F6728ABE0A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E89A8-0C01-ED38-909D-B842C52213C3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5F5A3-F65B-A869-8D48-2ED601FDFD63}"/>
              </a:ext>
            </a:extLst>
          </p:cNvPr>
          <p:cNvSpPr txBox="1"/>
          <p:nvPr/>
        </p:nvSpPr>
        <p:spPr>
          <a:xfrm>
            <a:off x="660400" y="1651000"/>
            <a:ext cx="10795000" cy="324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1. Derive and reconcile RFM from transaction records.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2. Compare four models using three internal metrics and coverage.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3. Explain customer assignments and segment-based marketing rules.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4. Deliver authenticated analytics, saved models and SQLite history.</a:t>
            </a:r>
            <a:endParaRPr lang="en-IN" sz="23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986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C47DE-305D-7EC8-6E0C-CD0E13B92B4A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Existing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6047C-E59A-B205-7EEF-402EA34DFB22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CCD91-71AD-372C-2CEF-37538A761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32467"/>
            <a:ext cx="6604000" cy="4402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D764D-73EF-88AD-AA28-C6E55BE27F6D}"/>
              </a:ext>
            </a:extLst>
          </p:cNvPr>
          <p:cNvSpPr txBox="1"/>
          <p:nvPr/>
        </p:nvSpPr>
        <p:spPr>
          <a:xfrm>
            <a:off x="7747000" y="1765300"/>
            <a:ext cx="3810000" cy="267252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>
                <a:solidFill>
                  <a:srgbClr val="173342"/>
                </a:solidFill>
                <a:latin typeface="Arial" panose="020B0604020202020204" pitchFamily="34" charset="0"/>
              </a:rPr>
              <a:t>Original baseline</a:t>
            </a:r>
          </a:p>
          <a:p>
            <a:pPr>
              <a:spcAft>
                <a:spcPts val="1000"/>
              </a:spcAft>
            </a:pPr>
            <a:endParaRPr lang="en-US" sz="22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173342"/>
                </a:solidFill>
                <a:latin typeface="Arial" panose="020B0604020202020204" pitchFamily="34" charset="0"/>
              </a:rPr>
              <a:t>500 synthetic customers</a:t>
            </a: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173342"/>
                </a:solidFill>
                <a:latin typeface="Arial" panose="020B0604020202020204" pitchFamily="34" charset="0"/>
              </a:rPr>
              <a:t>Income + spending score</a:t>
            </a: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173342"/>
                </a:solidFill>
                <a:latin typeface="Arial" panose="020B0604020202020204" pitchFamily="34" charset="0"/>
              </a:rPr>
              <a:t>K-Means and elbow analysis</a:t>
            </a: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173342"/>
                </a:solidFill>
                <a:latin typeface="Arial" panose="020B0604020202020204" pitchFamily="34" charset="0"/>
              </a:rPr>
              <a:t>Single-page Streamlit app</a:t>
            </a:r>
            <a:endParaRPr lang="en-IN" sz="22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74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A64BB-28BC-1D67-C00E-D14DB2E9E8C7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13EAA-10C5-0DC8-8AC1-7781BB2D42AF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FB34F-82AC-EA4A-9F13-3DDE901D4076}"/>
              </a:ext>
            </a:extLst>
          </p:cNvPr>
          <p:cNvSpPr txBox="1"/>
          <p:nvPr/>
        </p:nvSpPr>
        <p:spPr>
          <a:xfrm>
            <a:off x="660400" y="1651000"/>
            <a:ext cx="10795000" cy="324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2,000 customers and 32,800 purchases with transaction-derived RFM.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Four clustering algorithms, comparison scores and explained assignments.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Administrator login, six protected views and local analysis history.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Segment profiles produce campaign suggestions that users can inspect and export.</a:t>
            </a:r>
            <a:endParaRPr lang="en-IN" sz="23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1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E53769-AA2D-CDE4-B9DF-FB22CD6DC44F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7C649-0790-32EF-B1EF-5A5AF4038613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1DB233-65A0-00DF-B8C4-3913FDFA27B9}"/>
              </a:ext>
            </a:extLst>
          </p:cNvPr>
          <p:cNvSpPr/>
          <p:nvPr/>
        </p:nvSpPr>
        <p:spPr>
          <a:xfrm>
            <a:off x="609600" y="1905000"/>
            <a:ext cx="3048000" cy="952500"/>
          </a:xfrm>
          <a:prstGeom prst="rect">
            <a:avLst/>
          </a:prstGeom>
          <a:solidFill>
            <a:srgbClr val="E8F5F2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AEBAA-6062-E028-273F-BE33B3690B33}"/>
              </a:ext>
            </a:extLst>
          </p:cNvPr>
          <p:cNvSpPr txBox="1"/>
          <p:nvPr/>
        </p:nvSpPr>
        <p:spPr>
          <a:xfrm>
            <a:off x="800100" y="21971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100" b="1">
                <a:solidFill>
                  <a:srgbClr val="173342"/>
                </a:solidFill>
                <a:latin typeface="Arial" panose="020B0604020202020204" pitchFamily="34" charset="0"/>
              </a:rPr>
              <a:t>Admin login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7C5DEC-7773-59A3-0541-2AE09B27E726}"/>
              </a:ext>
            </a:extLst>
          </p:cNvPr>
          <p:cNvCxnSpPr/>
          <p:nvPr/>
        </p:nvCxnSpPr>
        <p:spPr>
          <a:xfrm>
            <a:off x="3657600" y="2374900"/>
            <a:ext cx="787400" cy="0"/>
          </a:xfrm>
          <a:prstGeom prst="line">
            <a:avLst/>
          </a:prstGeom>
          <a:ln w="25400">
            <a:solidFill>
              <a:srgbClr val="0D94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6AA0550-09FC-FDA7-4F17-7BD6624D3177}"/>
              </a:ext>
            </a:extLst>
          </p:cNvPr>
          <p:cNvSpPr/>
          <p:nvPr/>
        </p:nvSpPr>
        <p:spPr>
          <a:xfrm>
            <a:off x="4572000" y="1905000"/>
            <a:ext cx="3048000" cy="952500"/>
          </a:xfrm>
          <a:prstGeom prst="rect">
            <a:avLst/>
          </a:prstGeom>
          <a:solidFill>
            <a:srgbClr val="E8F5F2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43BFA-98CE-826E-FF6D-F07E584EDDEE}"/>
              </a:ext>
            </a:extLst>
          </p:cNvPr>
          <p:cNvSpPr txBox="1"/>
          <p:nvPr/>
        </p:nvSpPr>
        <p:spPr>
          <a:xfrm>
            <a:off x="4762500" y="21971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100" b="1">
                <a:solidFill>
                  <a:srgbClr val="173342"/>
                </a:solidFill>
                <a:latin typeface="Arial" panose="020B0604020202020204" pitchFamily="34" charset="0"/>
              </a:rPr>
              <a:t>Protected dashboard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91A4C2-B913-1957-4CEC-AAABE16968DD}"/>
              </a:ext>
            </a:extLst>
          </p:cNvPr>
          <p:cNvCxnSpPr/>
          <p:nvPr/>
        </p:nvCxnSpPr>
        <p:spPr>
          <a:xfrm>
            <a:off x="7620000" y="2374900"/>
            <a:ext cx="787400" cy="0"/>
          </a:xfrm>
          <a:prstGeom prst="line">
            <a:avLst/>
          </a:prstGeom>
          <a:ln w="25400">
            <a:solidFill>
              <a:srgbClr val="0D94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F3801C7-D038-FFC2-E17D-ECA0E3FA15B0}"/>
              </a:ext>
            </a:extLst>
          </p:cNvPr>
          <p:cNvSpPr/>
          <p:nvPr/>
        </p:nvSpPr>
        <p:spPr>
          <a:xfrm>
            <a:off x="8534400" y="1905000"/>
            <a:ext cx="3048000" cy="952500"/>
          </a:xfrm>
          <a:prstGeom prst="rect">
            <a:avLst/>
          </a:prstGeom>
          <a:solidFill>
            <a:srgbClr val="E8F5F2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AC5AB-4A65-AFA9-77A7-E723EBDCE503}"/>
              </a:ext>
            </a:extLst>
          </p:cNvPr>
          <p:cNvSpPr txBox="1"/>
          <p:nvPr/>
        </p:nvSpPr>
        <p:spPr>
          <a:xfrm>
            <a:off x="8724900" y="21971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100" b="1">
                <a:solidFill>
                  <a:srgbClr val="173342"/>
                </a:solidFill>
                <a:latin typeface="Arial" panose="020B0604020202020204" pitchFamily="34" charset="0"/>
              </a:rPr>
              <a:t>CSV + RFM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8489F5-F929-89A7-D1BB-3BC5B2DDC26F}"/>
              </a:ext>
            </a:extLst>
          </p:cNvPr>
          <p:cNvCxnSpPr/>
          <p:nvPr/>
        </p:nvCxnSpPr>
        <p:spPr>
          <a:xfrm>
            <a:off x="10058400" y="2857500"/>
            <a:ext cx="0" cy="1079500"/>
          </a:xfrm>
          <a:prstGeom prst="line">
            <a:avLst/>
          </a:prstGeom>
          <a:ln w="25400">
            <a:solidFill>
              <a:srgbClr val="0D94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B0894FB-FB98-1D1B-E9CC-670BD66DFF7C}"/>
              </a:ext>
            </a:extLst>
          </p:cNvPr>
          <p:cNvSpPr/>
          <p:nvPr/>
        </p:nvSpPr>
        <p:spPr>
          <a:xfrm>
            <a:off x="8534400" y="4064000"/>
            <a:ext cx="3048000" cy="952500"/>
          </a:xfrm>
          <a:prstGeom prst="rect">
            <a:avLst/>
          </a:prstGeom>
          <a:solidFill>
            <a:srgbClr val="E8F5F2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355C36-7B47-6B65-6DE8-0CCE49A687AD}"/>
              </a:ext>
            </a:extLst>
          </p:cNvPr>
          <p:cNvSpPr txBox="1"/>
          <p:nvPr/>
        </p:nvSpPr>
        <p:spPr>
          <a:xfrm>
            <a:off x="8724900" y="43561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100" b="1">
                <a:solidFill>
                  <a:srgbClr val="173342"/>
                </a:solidFill>
                <a:latin typeface="Arial" panose="020B0604020202020204" pitchFamily="34" charset="0"/>
              </a:rPr>
              <a:t>SQLite snapshot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8B7B01-9D0A-69DD-BEA1-584461109C06}"/>
              </a:ext>
            </a:extLst>
          </p:cNvPr>
          <p:cNvCxnSpPr/>
          <p:nvPr/>
        </p:nvCxnSpPr>
        <p:spPr>
          <a:xfrm flipH="1">
            <a:off x="7747000" y="4533900"/>
            <a:ext cx="787400" cy="0"/>
          </a:xfrm>
          <a:prstGeom prst="line">
            <a:avLst/>
          </a:prstGeom>
          <a:ln w="25400">
            <a:solidFill>
              <a:srgbClr val="0D94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1E92AAD-69D5-6FB6-6E59-7B89C0E8DD5E}"/>
              </a:ext>
            </a:extLst>
          </p:cNvPr>
          <p:cNvSpPr/>
          <p:nvPr/>
        </p:nvSpPr>
        <p:spPr>
          <a:xfrm>
            <a:off x="4572000" y="4064000"/>
            <a:ext cx="3048000" cy="952500"/>
          </a:xfrm>
          <a:prstGeom prst="rect">
            <a:avLst/>
          </a:prstGeom>
          <a:solidFill>
            <a:srgbClr val="E8F5F2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6B4191-C96F-3CC7-A230-7FFBB96D8FFA}"/>
              </a:ext>
            </a:extLst>
          </p:cNvPr>
          <p:cNvSpPr txBox="1"/>
          <p:nvPr/>
        </p:nvSpPr>
        <p:spPr>
          <a:xfrm>
            <a:off x="4762500" y="43561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100" b="1">
                <a:solidFill>
                  <a:srgbClr val="173342"/>
                </a:solidFill>
                <a:latin typeface="Arial" panose="020B0604020202020204" pitchFamily="34" charset="0"/>
              </a:rPr>
              <a:t>Four ML models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135993-B629-6C50-5D21-155F5A858413}"/>
              </a:ext>
            </a:extLst>
          </p:cNvPr>
          <p:cNvCxnSpPr/>
          <p:nvPr/>
        </p:nvCxnSpPr>
        <p:spPr>
          <a:xfrm flipH="1">
            <a:off x="3784600" y="4533900"/>
            <a:ext cx="787400" cy="0"/>
          </a:xfrm>
          <a:prstGeom prst="line">
            <a:avLst/>
          </a:prstGeom>
          <a:ln w="25400">
            <a:solidFill>
              <a:srgbClr val="0D94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70F8C82-4D50-1B68-1C62-ADE45418110A}"/>
              </a:ext>
            </a:extLst>
          </p:cNvPr>
          <p:cNvSpPr/>
          <p:nvPr/>
        </p:nvSpPr>
        <p:spPr>
          <a:xfrm>
            <a:off x="609600" y="4064000"/>
            <a:ext cx="3048000" cy="952500"/>
          </a:xfrm>
          <a:prstGeom prst="rect">
            <a:avLst/>
          </a:prstGeom>
          <a:solidFill>
            <a:srgbClr val="E8F5F2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CBCCCB-FDC9-BE10-A517-5E987ABE5CCD}"/>
              </a:ext>
            </a:extLst>
          </p:cNvPr>
          <p:cNvSpPr txBox="1"/>
          <p:nvPr/>
        </p:nvSpPr>
        <p:spPr>
          <a:xfrm>
            <a:off x="800100" y="4356100"/>
            <a:ext cx="266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100" b="1">
                <a:solidFill>
                  <a:srgbClr val="173342"/>
                </a:solidFill>
                <a:latin typeface="Arial" panose="020B0604020202020204" pitchFamily="34" charset="0"/>
              </a:rPr>
              <a:t>Profiles + marketing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C516D-F013-28D4-B233-9DA3451699DD}"/>
              </a:ext>
            </a:extLst>
          </p:cNvPr>
          <p:cNvSpPr txBox="1"/>
          <p:nvPr/>
        </p:nvSpPr>
        <p:spPr>
          <a:xfrm>
            <a:off x="609600" y="56642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>
                <a:solidFill>
                  <a:srgbClr val="516978"/>
                </a:solidFill>
                <a:latin typeface="Arial" panose="020B0604020202020204" pitchFamily="34" charset="0"/>
              </a:rPr>
              <a:t>Local files and saved model bundles support reproducible analysis.</a:t>
            </a:r>
            <a:endParaRPr lang="en-IN" sz="2000">
              <a:solidFill>
                <a:srgbClr val="5169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8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86FDF-15DE-C0B2-3101-39E006C1D5B6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A1E74-F680-9703-083C-7A015E326790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CE5B8-80DE-B9B1-416C-755718CC8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4249"/>
              </p:ext>
            </p:extLst>
          </p:nvPr>
        </p:nvGraphicFramePr>
        <p:xfrm>
          <a:off x="609600" y="1651000"/>
          <a:ext cx="109728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423593595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924300206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621460786"/>
                    </a:ext>
                  </a:extLst>
                </a:gridCol>
              </a:tblGrid>
              <a:tr h="645583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Component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Size / unit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557840"/>
                  </a:ext>
                </a:extLst>
              </a:tr>
              <a:tr h="64558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Customers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2,000 records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Synthetic customer profiles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179588"/>
                  </a:ext>
                </a:extLst>
              </a:tr>
              <a:tr h="64558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Transactions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32,800 purchases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Auditable RFM aggregation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861757"/>
                  </a:ext>
                </a:extLst>
              </a:tr>
              <a:tr h="64558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Income / monetary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Thousands USD / USD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Explicit unit distinction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261223"/>
                  </a:ext>
                </a:extLst>
              </a:tr>
              <a:tr h="64558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Analysis date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2026-09-25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Reproducible recency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75219"/>
                  </a:ext>
                </a:extLst>
              </a:tr>
              <a:tr h="64558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Window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365 days, inclusive boundaries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Comparable observation period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3193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540019-083B-7185-47F1-14E88B43F847}"/>
              </a:ext>
            </a:extLst>
          </p:cNvPr>
          <p:cNvSpPr txBox="1"/>
          <p:nvPr/>
        </p:nvSpPr>
        <p:spPr>
          <a:xfrm>
            <a:off x="609600" y="58166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900">
                <a:solidFill>
                  <a:srgbClr val="516978"/>
                </a:solidFill>
                <a:latin typeface="Arial" panose="020B0604020202020204" pitchFamily="34" charset="0"/>
              </a:rPr>
              <a:t>Gender and satisfaction are descriptive; IDs never enter model distances.</a:t>
            </a:r>
            <a:endParaRPr lang="en-IN" sz="1900">
              <a:solidFill>
                <a:srgbClr val="5169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31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3FF00-1A6A-7C92-A86D-41B2460A546B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RFM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06F3A-C4C6-18E3-7CD6-28E6D3C71E8E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28C3E3-C6A0-43C7-4141-FA5DE9D6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53475"/>
              </p:ext>
            </p:extLst>
          </p:nvPr>
        </p:nvGraphicFramePr>
        <p:xfrm>
          <a:off x="609600" y="1765300"/>
          <a:ext cx="10972800" cy="298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181555718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298885810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87374883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lang="en-IN" sz="21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Measure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Definition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Worked example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27682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Recency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Days since latest purchase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5 days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779945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Number of in-window purchases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3 purchases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0437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Monetary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Sum of in-window amounts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$300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8947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04E38F-57B9-0C8E-0178-E2C713C57584}"/>
              </a:ext>
            </a:extLst>
          </p:cNvPr>
          <p:cNvSpPr txBox="1"/>
          <p:nvPr/>
        </p:nvSpPr>
        <p:spPr>
          <a:xfrm>
            <a:off x="609600" y="5092700"/>
            <a:ext cx="10972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Example: $120 + $80 + $100, latest purchase 20 September, reference date 25 September.</a:t>
            </a:r>
            <a:endParaRPr lang="en-IN" sz="21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01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F5A4B-3A90-18B7-08CC-06E8AFDAAA58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Machine learning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862CC-5838-422D-669B-AAFE3E1DDCD4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74388-4B3F-E969-A95C-D064698D7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966615"/>
              </p:ext>
            </p:extLst>
          </p:nvPr>
        </p:nvGraphicFramePr>
        <p:xfrm>
          <a:off x="609600" y="1676400"/>
          <a:ext cx="10972800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01149638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913492731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951566409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Training idea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New-customer assignment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049896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K-Means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Nearest mean, squared distance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Native prediction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89522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Ward hierarchy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Merge by variance increase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Nearest-centroid proxy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012257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DBSCAN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Density and noise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Core-sample radius extension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12105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Gaussian Mixture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Probabilistic components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Native posterior assignment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0352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15DE2C-4AD0-E250-6B7D-47F6B347EB29}"/>
              </a:ext>
            </a:extLst>
          </p:cNvPr>
          <p:cNvSpPr txBox="1"/>
          <p:nvPr/>
        </p:nvSpPr>
        <p:spPr>
          <a:xfrm>
            <a:off x="609600" y="57150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000">
                <a:solidFill>
                  <a:srgbClr val="516978"/>
                </a:solidFill>
                <a:latin typeface="Arial" panose="020B0604020202020204" pitchFamily="34" charset="0"/>
              </a:rPr>
              <a:t>Shared preprocessing: median imputation, log1p(RFM), standard scaling.</a:t>
            </a:r>
          </a:p>
        </p:txBody>
      </p:sp>
    </p:spTree>
    <p:extLst>
      <p:ext uri="{BB962C8B-B14F-4D97-AF65-F5344CB8AC3E}">
        <p14:creationId xmlns:p14="http://schemas.microsoft.com/office/powerpoint/2010/main" val="8248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3A990-827B-6C73-7D52-D7B7FE35B278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Model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A32F0-65ED-886B-7701-C67E68D28795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359D15-3D0A-484B-3898-B175BA18F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382"/>
              </p:ext>
            </p:extLst>
          </p:nvPr>
        </p:nvGraphicFramePr>
        <p:xfrm>
          <a:off x="609600" y="1727200"/>
          <a:ext cx="109728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2275582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85682201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421597136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68417413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07722634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129212717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Groups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Coverage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Silhouette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DBI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CH</a:t>
                      </a:r>
                    </a:p>
                  </a:txBody>
                  <a:tcPr marL="114300" marR="88900">
                    <a:solidFill>
                      <a:srgbClr val="D8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16324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K-Means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0.373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1.006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1330.1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0372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Agglomerative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0.369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0.980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1237.7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97151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DBSCAN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84.8%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0.342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1.002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880.6</a:t>
                      </a:r>
                    </a:p>
                  </a:txBody>
                  <a:tcPr marL="114300" marR="88900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33768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Gaussian Mixture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0.355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1.059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solidFill>
                            <a:srgbClr val="173342"/>
                          </a:solidFill>
                          <a:latin typeface="Arial" panose="020B0604020202020204" pitchFamily="34" charset="0"/>
                        </a:rPr>
                        <a:t>1246.7</a:t>
                      </a:r>
                    </a:p>
                  </a:txBody>
                  <a:tcPr marL="1143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977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C27002-761F-F591-0544-8C607BF8704B}"/>
              </a:ext>
            </a:extLst>
          </p:cNvPr>
          <p:cNvSpPr txBox="1"/>
          <p:nvPr/>
        </p:nvSpPr>
        <p:spPr>
          <a:xfrm>
            <a:off x="609600" y="5270500"/>
            <a:ext cx="10972800" cy="7745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100" b="1">
                <a:solidFill>
                  <a:srgbClr val="173342"/>
                </a:solidFill>
                <a:latin typeface="Arial" panose="020B0604020202020204" pitchFamily="34" charset="0"/>
              </a:rPr>
              <a:t>Recommended: K-Means</a:t>
            </a:r>
          </a:p>
          <a:p>
            <a:pPr>
              <a:spcAft>
                <a:spcPts val="1000"/>
              </a:spcAft>
            </a:pPr>
            <a:r>
              <a:rPr lang="en-US" sz="2100" b="1">
                <a:solidFill>
                  <a:srgbClr val="173342"/>
                </a:solidFill>
                <a:latin typeface="Arial" panose="020B0604020202020204" pitchFamily="34" charset="0"/>
              </a:rPr>
              <a:t>Ward leads DBI; DBSCAN excludes 304 customers. Scores are not accuracy.</a:t>
            </a:r>
            <a:endParaRPr lang="en-IN" sz="2100" b="1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33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D86E7-28AA-7553-A09E-CA34E999F144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Dashboard 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86746-68D7-B529-54BF-5546D11BD9CD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D1812-F46A-7BA1-151F-D470A7BD2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08" y="1320800"/>
            <a:ext cx="6716683" cy="513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582939-EF20-6D87-D6A2-F6F7A180DD8D}"/>
              </a:ext>
            </a:extLst>
          </p:cNvPr>
          <p:cNvSpPr txBox="1"/>
          <p:nvPr/>
        </p:nvSpPr>
        <p:spPr>
          <a:xfrm>
            <a:off x="7810500" y="1536700"/>
            <a:ext cx="3784600" cy="3934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1. Sign in as administrator.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2. Inspect customer analysis.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3. Compare fitted models.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4. Predict and explain a profile.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5. Export recommendations.</a:t>
            </a:r>
            <a:endParaRPr lang="en-IN" sz="21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94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56413A-768F-FB82-CA36-1B6BAAC892E2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B3FDE-D4D5-095B-485D-4E363734A2D8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79772-EEEE-17F2-39BA-E4B922BE4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68450"/>
            <a:ext cx="7175500" cy="4305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FFCFF8-EB19-2355-2A0A-7D0382D1D788}"/>
              </a:ext>
            </a:extLst>
          </p:cNvPr>
          <p:cNvSpPr txBox="1"/>
          <p:nvPr/>
        </p:nvSpPr>
        <p:spPr>
          <a:xfrm>
            <a:off x="8102600" y="1638300"/>
            <a:ext cx="3429000" cy="40010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4 K-Means groups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0.373 silhouette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VIP, growth, value-focused and at-risk engagement profiles</a:t>
            </a:r>
          </a:p>
          <a:p>
            <a:pPr>
              <a:spcAft>
                <a:spcPts val="1000"/>
              </a:spcAft>
            </a:pPr>
            <a:endParaRPr lang="en-US" sz="21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100">
                <a:solidFill>
                  <a:srgbClr val="173342"/>
                </a:solidFill>
                <a:latin typeface="Arial" panose="020B0604020202020204" pitchFamily="34" charset="0"/>
              </a:rPr>
              <a:t>Synthetic evidence; no revenue claim</a:t>
            </a:r>
            <a:endParaRPr lang="en-IN" sz="21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9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42B37-F10F-7800-E234-3D19D8DF368F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268F4B-7172-4C1D-0E5B-D76F294A71A4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A4112-E797-3010-1543-DA6AC1945819}"/>
              </a:ext>
            </a:extLst>
          </p:cNvPr>
          <p:cNvSpPr txBox="1"/>
          <p:nvPr/>
        </p:nvSpPr>
        <p:spPr>
          <a:xfrm>
            <a:off x="660400" y="1651000"/>
            <a:ext cx="10795000" cy="324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Validate on representative customer data and audit feature choices.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Study stability across samples, time windows and parameter settings.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Evaluate campaigns with controlled experiments.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Add managed identity, retention controls and monitored deployment.</a:t>
            </a:r>
            <a:endParaRPr lang="en-IN" sz="23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433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D3CE9-6C1B-AD6B-BB20-C15DB66191C4}"/>
              </a:ext>
            </a:extLst>
          </p:cNvPr>
          <p:cNvSpPr txBox="1"/>
          <p:nvPr/>
        </p:nvSpPr>
        <p:spPr>
          <a:xfrm>
            <a:off x="609600" y="3810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3200" b="1">
                <a:solidFill>
                  <a:srgbClr val="173342"/>
                </a:solidFill>
                <a:latin typeface="Arial" panose="020B06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5790B-B371-C60B-3C83-934B1EC59CFF}"/>
              </a:ext>
            </a:extLst>
          </p:cNvPr>
          <p:cNvSpPr txBox="1"/>
          <p:nvPr/>
        </p:nvSpPr>
        <p:spPr>
          <a:xfrm>
            <a:off x="114300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000">
                <a:solidFill>
                  <a:srgbClr val="516978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5A46-5542-037E-82E4-232BD33C9219}"/>
              </a:ext>
            </a:extLst>
          </p:cNvPr>
          <p:cNvSpPr txBox="1"/>
          <p:nvPr/>
        </p:nvSpPr>
        <p:spPr>
          <a:xfrm>
            <a:off x="660400" y="1651000"/>
            <a:ext cx="10795000" cy="324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A complete, reproducible customer analytics workflow is implemented.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RFM and multiple algorithms extend the original K-Means baseline.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Profiles and explanations make outputs easier to inspect and discuss.</a:t>
            </a:r>
          </a:p>
          <a:p>
            <a:pPr>
              <a:spcAft>
                <a:spcPts val="1000"/>
              </a:spcAft>
            </a:pPr>
            <a:endParaRPr lang="en-US" sz="2300">
              <a:solidFill>
                <a:srgbClr val="173342"/>
              </a:solidFill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300">
                <a:solidFill>
                  <a:srgbClr val="173342"/>
                </a:solidFill>
                <a:latin typeface="Arial" panose="020B0604020202020204" pitchFamily="34" charset="0"/>
              </a:rPr>
              <a:t>The next step is real-data and business-outcome validation.</a:t>
            </a:r>
            <a:endParaRPr lang="en-IN" sz="2300">
              <a:solidFill>
                <a:srgbClr val="17334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5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Microsoft Office PowerPoint</Application>
  <PresentationFormat>Custom</PresentationFormat>
  <Paragraphs>203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Nigilan B</dc:creator>
  <cp:lastModifiedBy>Nigilan B</cp:lastModifiedBy>
  <cp:revision>1</cp:revision>
  <dcterms:created xsi:type="dcterms:W3CDTF">2026-09-25T12:53:33Z</dcterms:created>
  <dcterms:modified xsi:type="dcterms:W3CDTF">2026-09-25T12:53:33Z</dcterms:modified>
</cp:coreProperties>
</file>